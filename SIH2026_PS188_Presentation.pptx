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</a:rPr>
              <a:t>Problem Statement ID: </a:t>
            </a:r>
            <a:r>
              <a:rPr b="1" sz="1300">
                <a:solidFill>
                  <a:srgbClr val="1E293B"/>
                </a:solidFill>
              </a:rPr>
              <a:t>SIH26188 (26188)</a:t>
            </a:r>
            <a:endParaRPr lang="en-US" dirty="0"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</a:rPr>
              <a:t>Problem Statement Title: </a:t>
            </a:r>
            <a:r>
              <a:rPr b="1" sz="1300">
                <a:solidFill>
                  <a:srgbClr val="1E293B"/>
                </a:solidFill>
              </a:rPr>
              <a:t>AI-Based Fake Identity &amp; Document Screening System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</a:rPr>
              <a:t>Ministry / Organization: </a:t>
            </a:r>
            <a:r>
              <a:rPr b="1" sz="1300">
                <a:solidFill>
                  <a:srgbClr val="1E293B"/>
                </a:solidFill>
              </a:rPr>
              <a:t>Ministry of Home Affairs (MHA) / Sashastra Seema Bal (SSB)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</a:rPr>
              <a:t>Theme: </a:t>
            </a:r>
            <a:r>
              <a:rPr b="1" sz="1300">
                <a:solidFill>
                  <a:srgbClr val="1E293B"/>
                </a:solidFill>
              </a:rPr>
              <a:t>Blockchain &amp; Cybersecurity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</a:rPr>
              <a:t>Category: </a:t>
            </a:r>
            <a:r>
              <a:rPr b="1" sz="130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</a:rPr>
              <a:t>Idea Title: </a:t>
            </a:r>
            <a:r>
              <a:rPr b="1" sz="1300">
                <a:solidFill>
                  <a:srgbClr val="EA580C"/>
                </a:solidFill>
              </a:rPr>
              <a:t>RakshakID: AI-Powered Multi-Layered Document Forensics &amp; Border Screening Platform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Team ID: </a:t>
            </a:r>
            <a:r>
              <a:rPr b="0" sz="1300">
                <a:solidFill>
                  <a:srgbClr val="1E293B"/>
                </a:solidFill>
              </a:rPr>
              <a:t>[Your Team ID]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Team Name: </a:t>
            </a:r>
            <a:r>
              <a:rPr b="0" sz="1300">
                <a:solidFill>
                  <a:srgbClr val="1E293B"/>
                </a:solidFill>
              </a:rPr>
              <a:t>[Your Team Name]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Institute / College: </a:t>
            </a:r>
            <a:r>
              <a:rPr b="0" sz="1300">
                <a:solidFill>
                  <a:srgbClr val="1E293B"/>
                </a:solidFill>
              </a:rPr>
              <a:t>[Your Institute / University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b="1" sz="2200">
                <a:solidFill>
                  <a:srgbClr val="1E3A8A"/>
                </a:solidFill>
              </a:defRPr>
            </a:pPr>
            <a:r>
              <a:t>PROPOSED SOLUTION: RakshakID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91440" bIns="91440">
            <a:spAutoFit/>
          </a:bodyPr>
          <a:lstStyle/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v"/>
            </a:pPr>
            <a:r>
              <a:rPr b="1" sz="1100">
                <a:solidFill>
                  <a:srgbClr val="1E3A8A"/>
                </a:solidFill>
              </a:rPr>
              <a:t>• Executive Summary: </a:t>
            </a:r>
            <a:r>
              <a:rPr b="0" sz="1050">
                <a:solidFill>
                  <a:srgbClr val="1E293B"/>
                </a:solidFill>
              </a:rPr>
              <a:t>RakshakID is an automated, high-throughput AI document forensics platform that inspects travel credentials (passports, visas, national IDs, permits) and authenticates passenger identity in under 5 seconds.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Multi-Document OCR &amp; MRZ Parsing: </a:t>
            </a:r>
            <a:r>
              <a:rPr b="0" sz="1050">
                <a:solidFill>
                  <a:srgbClr val="1E293B"/>
                </a:solidFill>
              </a:rPr>
              <a:t>Simultaneously decodes ICAO Doc 9303 Machine Readable Zone (MRZ) and extracts Visual Inspection Zone (VIZ) text (Name, DOB, Expiry, Nationality, Visa Validity) with dual-stream consistency cross-checking.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Rule &amp; Checksum Engine: </a:t>
            </a:r>
            <a:r>
              <a:rPr b="0" sz="1050">
                <a:solidFill>
                  <a:srgbClr val="1E293B"/>
                </a:solidFill>
              </a:rPr>
              <a:t>Computes 7-3-1 modulus-10 check-digits on MRZ strings and compares them against VIZ OCR data, issuing authority patterns, and travel validity rules to detect synthetic data manipulation.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Core Innovation - Multi-Layer Tampering Forensics: </a:t>
            </a:r>
            <a:r>
              <a:rPr b="0" sz="1050">
                <a:solidFill>
                  <a:srgbClr val="1E293B"/>
                </a:solidFill>
              </a:rPr>
              <a:t>Detects physical &amp; digital forgeries via 4 specialized AI detectors: (1) Photo Replacement (boundary cut/paste &amp; edge blending artifacts), (2) Text Manipulation (font inconsistency &amp; character alignment warping), (3) Stamp Forgery (circular contour distortion &amp; ink hue analysis), and (4) Error Level Analysis (ELA) to expose digital recompression.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1:1 Live Biometric Verification: </a:t>
            </a:r>
            <a:r>
              <a:rPr b="0" sz="1050">
                <a:solidFill>
                  <a:srgbClr val="1E293B"/>
                </a:solidFill>
              </a:rPr>
              <a:t>Extracts facial embeddings from the document photo using DeepFace (ArcFace backbone) and matches them against live traveler webcam capture with real-time passive liveness/blink detection.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Unified Risk Scoring Dashboard: </a:t>
            </a:r>
            <a:r>
              <a:rPr b="0" sz="1050">
                <a:solidFill>
                  <a:srgbClr val="1E293B"/>
                </a:solidFill>
              </a:rPr>
              <a:t>Generates an explainable 0–100 Risk Score (Green=Cleared, Amber=Review, Red=Detain) with visual forensic bounding boxes and exportable digital investigation dossiers.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200">
                <a:solidFill>
                  <a:srgbClr val="1E3A8A"/>
                </a:solidFill>
              </a:defRPr>
            </a:pPr>
            <a:r>
              <a:t>TECHNICAL APPROACH &amp; PIPELINE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91440" bIns="91440">
            <a:spAutoFit/>
          </a:bodyPr>
          <a:lstStyle/>
          <a:p>
            <a:pPr marL="342900" indent="-34290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b="1" sz="1100">
                <a:solidFill>
                  <a:srgbClr val="1E3A8A"/>
                </a:solidFill>
              </a:rPr>
              <a:t>• Full-Stack Architecture: </a:t>
            </a:r>
            <a:r>
              <a:rPr b="0" sz="1050">
                <a:solidFill>
                  <a:srgbClr val="1E293B"/>
                </a:solidFill>
              </a:rPr>
              <a:t>Frontend: Next.js / React with Tailwind CSS, HTML5 Canvas for forensic heatmaps, WebRTC for webcam capture. Backend: Python FastAPI async server for low-latency multi-threaded image processing.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Step 1 - Image Preprocessing: </a:t>
            </a:r>
            <a:r>
              <a:rPr b="0" sz="1050">
                <a:solidFill>
                  <a:srgbClr val="1E293B"/>
                </a:solidFill>
              </a:rPr>
              <a:t>OpenCV deskewing, perspective rectification (homography), adaptive lighting compensation, and unsharp masking to enhance faded text and stamps on physical IDs.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Step 2 - Dual OCR &amp; MRZ Extraction: </a:t>
            </a:r>
            <a:r>
              <a:rPr b="0" sz="1050">
                <a:solidFill>
                  <a:srgbClr val="1E293B"/>
                </a:solidFill>
              </a:rPr>
              <a:t>Dedicated passporteye / pytesseract pipeline to extract MRZ TD1/TD2/TD3 strings, combined with Google Vision / Gemini Vision API for high-accuracy VIZ text parsing.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Step 3 - ICAO 9303 Verification: </a:t>
            </a:r>
            <a:r>
              <a:rPr b="0" sz="1050">
                <a:solidFill>
                  <a:srgbClr val="1E293B"/>
                </a:solidFill>
              </a:rPr>
              <a:t>Cryptographic 7-3-1 weight modulus-10 checksum validation on document number, DOB, and expiration date; cross-references MRZ against VIZ text.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Step 4 - AI Tampering &amp; Forgery Engine: </a:t>
            </a:r>
            <a:r>
              <a:rPr b="0" sz="1050">
                <a:solidFill>
                  <a:srgbClr val="1E293B"/>
                </a:solidFill>
              </a:rPr>
              <a:t>Error Level Analysis (ELA) for detecting JPEG re-compression discrepancies; ResNet/ViT classifier for photo border splicing; EXIF forensic parser for editing software signatures (Photoshop/GIMP).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Step 5 - 1:1 Biometric Match &amp; Liveness: </a:t>
            </a:r>
            <a:r>
              <a:rPr b="0" sz="1050">
                <a:solidFill>
                  <a:srgbClr val="1E293B"/>
                </a:solidFill>
              </a:rPr>
              <a:t>DeepFace (ArcFace model) compares document face photo to live traveler camera (cosine similarity threshold = 0.68). MediaPipe landmark tracking verifies eye blink &amp; head pose to thwart photo/screen spoofing.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Step 6 - Decision &amp; Audit Trail: </a:t>
            </a:r>
            <a:r>
              <a:rPr b="0" sz="1050">
                <a:solidFill>
                  <a:srgbClr val="1E293B"/>
                </a:solidFill>
              </a:rPr>
              <a:t>Aggregates module confidence scores into a single Risk Index; logs timestamped events into PostgreSQL with encrypted hash trails and generates 1-click forensic PDF dossiers.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200">
                <a:solidFill>
                  <a:srgbClr val="1E3A8A"/>
                </a:solidFill>
              </a:defRPr>
            </a:pPr>
            <a:r>
              <a:t>FEASIBILITY, VIABILITY &amp; RISK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91440" bIns="91440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100">
                <a:solidFill>
                  <a:srgbClr val="1E3A8A"/>
                </a:solidFill>
              </a:rPr>
              <a:t>• Technical Feasibility: </a:t>
            </a:r>
            <a:r>
              <a:rPr b="0" sz="1050">
                <a:solidFill>
                  <a:srgbClr val="1E293B"/>
                </a:solidFill>
              </a:rPr>
              <a:t>Employs open, battle-tested computer vision &amp; AI frameworks (OpenCV, ArcFace, Tesseract, ELA). Inference latency is &lt;1.5 seconds on standard x86 CPU workstations without requiring costly GPU servers.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Operational Feasibility: </a:t>
            </a:r>
            <a:r>
              <a:rPr b="0" sz="1050">
                <a:solidFill>
                  <a:srgbClr val="1E293B"/>
                </a:solidFill>
              </a:rPr>
              <a:t>Integrates smoothly into current SSB immigration booths with existing document flatbed scanners and USB webcams. Zero specialized training needed; clear intuitive color-coded risk dashboard.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Economic Viability: </a:t>
            </a:r>
            <a:r>
              <a:rPr b="0" sz="1050">
                <a:solidFill>
                  <a:srgbClr val="1E293B"/>
                </a:solidFill>
              </a:rPr>
              <a:t>100% software-based architecture with minimal upfront capital expenditure; avoids expensive proprietary spectral/IR hardware scanners, ensuring cost-effective deployment across hundreds of border posts.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Challenge 1: Poor Scan Quality &amp; Glare at Border: </a:t>
            </a:r>
            <a:r>
              <a:rPr b="0" sz="1050">
                <a:solidFill>
                  <a:srgbClr val="1E293B"/>
                </a:solidFill>
              </a:rPr>
              <a:t>Mitigation: Built-in automated image enhancement pipeline utilizing Contrast Limited Adaptive Histogram Equalization (CLAHE) and specular reflection reduction algorithms before OCR processing.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Challenge 2: Intermittent Connectivity at Remote Outposts: </a:t>
            </a:r>
            <a:r>
              <a:rPr b="0" sz="1050">
                <a:solidFill>
                  <a:srgbClr val="1E293B"/>
                </a:solidFill>
              </a:rPr>
              <a:t>Mitigation: Hybrid Edge-First Architecture: OCR, MRZ checksums, and 1:1 facial matching execute fully offline on local PCs. Scans and logs automatically sync to central MHA databases once connectivity restores.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Challenge 3: Sophisticated Biometric Spoofing (Print/Screen): </a:t>
            </a:r>
            <a:r>
              <a:rPr b="0" sz="1050">
                <a:solidFill>
                  <a:srgbClr val="1E293B"/>
                </a:solidFill>
              </a:rPr>
              <a:t>Mitigation: Multi-frame temporal liveness analysis (micro-blinking, facial depth heuristics) blocks printed photographs and mobile screen replays.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200">
                <a:solidFill>
                  <a:srgbClr val="1E3A8A"/>
                </a:solidFill>
              </a:defRPr>
            </a:pPr>
            <a:r>
              <a:t>IMPACT, BENEFITS &amp; NATIONAL SECURITY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91440" bIns="91440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100">
                <a:solidFill>
                  <a:srgbClr val="1E3A8A"/>
                </a:solidFill>
              </a:rPr>
              <a:t>• Target Stakeholders: </a:t>
            </a:r>
            <a:r>
              <a:rPr b="0" sz="1050">
                <a:solidFill>
                  <a:srgbClr val="1E293B"/>
                </a:solidFill>
              </a:rPr>
              <a:t>Sashastra Seema Bal (SSB), Bureau of Immigration (BoI), Ministry of Home Affairs (MHA), State Police Checkpoints, and honest cross-border travelers.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90% Faster Passenger Clearance: </a:t>
            </a:r>
            <a:r>
              <a:rPr b="0" sz="1050">
                <a:solidFill>
                  <a:srgbClr val="1E293B"/>
                </a:solidFill>
              </a:rPr>
              <a:t>Slashes manual verification latency from 3–5 minutes down to &lt;5 seconds per traveler, eliminating congestion and long queues at high-density transit terminals.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Superhuman Tamper &amp; Forgery Detection: </a:t>
            </a:r>
            <a:r>
              <a:rPr b="0" sz="1050">
                <a:solidFill>
                  <a:srgbClr val="1E293B"/>
                </a:solidFill>
              </a:rPr>
              <a:t>Detects micro-level font splicing, altered birthdates, swapped photos, and fake seals that easily deceive human visual inspection during peak fatigue hours.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Standardized &amp; Objective Screening: </a:t>
            </a:r>
            <a:r>
              <a:rPr b="0" sz="1050">
                <a:solidFill>
                  <a:srgbClr val="1E293B"/>
                </a:solidFill>
              </a:rPr>
              <a:t>Replaces subjective officer judgment with objective, data-driven risk scoring, establishing consistent border security protocols across all land border outposts.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Tamper-Proof Legal Evidence Dossier: </a:t>
            </a:r>
            <a:r>
              <a:rPr b="0" sz="1050">
                <a:solidFill>
                  <a:srgbClr val="1E293B"/>
                </a:solidFill>
              </a:rPr>
              <a:t>Automatically compiles timestamped forensic reports with highlighted anomaly bounding boxes, creating legally admissible evidence chains for prosecutions and intelligence sharing.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National Security Fortification: </a:t>
            </a:r>
            <a:r>
              <a:rPr b="0" sz="1050">
                <a:solidFill>
                  <a:srgbClr val="1E293B"/>
                </a:solidFill>
              </a:rPr>
              <a:t>Prevents unauthorized cross-border infiltration, human trafficking, and fake passport syndicates across India's open borders (Indo-Nepal &amp; Indo-Bhutan), directly reinforcing national sovereignty.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200">
                <a:solidFill>
                  <a:srgbClr val="1E3A8A"/>
                </a:solidFill>
              </a:defRPr>
            </a:pPr>
            <a:r>
              <a:t>RESEARCH, STANDARDS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91440" bIns="91440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100">
                <a:solidFill>
                  <a:srgbClr val="1E3A8A"/>
                </a:solidFill>
              </a:rPr>
              <a:t>• International Standards (ICAO Doc 9303): </a:t>
            </a:r>
            <a:r>
              <a:rPr b="0" sz="1050">
                <a:solidFill>
                  <a:srgbClr val="1E293B"/>
                </a:solidFill>
              </a:rPr>
              <a:t>Specifications for Machine Readable Travel Documents (MRTDs), Parts 3, 4 &amp; 7: Standardized MRZ formats (TD1, TD2, TD3) and 7-3-1 weight modulus-10 check digit algorithms.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Biometric Verification Standards (ISO/IEC 19794-5): </a:t>
            </a:r>
            <a:r>
              <a:rPr b="0" sz="1050">
                <a:solidFill>
                  <a:srgbClr val="1E293B"/>
                </a:solidFill>
              </a:rPr>
              <a:t>Information Technology — Biometric data interchange formats — Part 5: Face image data quality, resolution, and landmark standards.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Digital Image Forensic Research (ELA): </a:t>
            </a:r>
            <a:r>
              <a:rPr b="0" sz="1050">
                <a:solidFill>
                  <a:srgbClr val="1E293B"/>
                </a:solidFill>
              </a:rPr>
              <a:t>Krawetz, Neal (2007). 'A Picture's Worth... Digital Image Analysis and Error Level Analysis (ELA)', Hacker Factor Solutions — Foundations of JPEG compression artifact forensics.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Deep Facial Embeddings (ArcFace): </a:t>
            </a:r>
            <a:r>
              <a:rPr b="0" sz="1050">
                <a:solidFill>
                  <a:srgbClr val="1E293B"/>
                </a:solidFill>
              </a:rPr>
              <a:t>Deng, J., Guo, J., Xue, N., &amp; Zafeiriou, S. (2019). 'ArcFace: Additive Angular Margin Loss for Deep Face Recognition', IEEE/CVF Conference on Computer Vision and Pattern Recognition (CVPR).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Document Tampering &amp; Splicing Localization: </a:t>
            </a:r>
            <a:r>
              <a:rPr b="0" sz="1050">
                <a:solidFill>
                  <a:srgbClr val="1E293B"/>
                </a:solidFill>
              </a:rPr>
              <a:t>Bappy, J. H., Roy-Chowdhury, A. K., et al. (2019). 'Exploiting Spatial Structure for Localizing Manipulated Image Regions', IEEE Transactions on Information Forensics and Security.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National Guidelines &amp; Policy Frameworks: </a:t>
            </a:r>
            <a:r>
              <a:rPr b="0" sz="1050">
                <a:solidFill>
                  <a:srgbClr val="1E293B"/>
                </a:solidFill>
              </a:rPr>
              <a:t>Bureau of Police Research and Development (BPR&amp;D) Document Examination Manual; Ministry of Home Affairs (MHA) Integrated Border Management System (IBMS) Guidelines.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
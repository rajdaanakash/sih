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E06A26"/>
                </a:solidFill>
                <a:latin typeface="Calibri"/>
              </a:rPr>
              <a:t>Problem Statement ID:</a:t>
            </a:r>
            <a:r>
              <a:rPr b="1" sz="1300">
                <a:solidFill>
                  <a:srgbClr val="0F172A"/>
                </a:solidFill>
                <a:latin typeface="Calibri"/>
              </a:rPr>
              <a:t> 26188 (SIH26188)</a:t>
            </a:r>
            <a:endParaRPr lang="en-US" dirty="0"/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Problem Statement Title:</a:t>
            </a:r>
            <a:r>
              <a:rPr b="0" sz="1300">
                <a:solidFill>
                  <a:srgbClr val="0F172A"/>
                </a:solidFill>
                <a:latin typeface="Calibri"/>
              </a:rPr>
              <a:t> AI-Based Fake Identity &amp; Document Screening System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Ministry / Organization:</a:t>
            </a:r>
            <a:r>
              <a:rPr b="0" sz="1300">
                <a:solidFill>
                  <a:srgbClr val="0F172A"/>
                </a:solidFill>
                <a:latin typeface="Calibri"/>
              </a:rPr>
              <a:t> Ministry of Home Affairs (MHA)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Theme:</a:t>
            </a:r>
            <a:r>
              <a:rPr b="0" sz="1300">
                <a:solidFill>
                  <a:srgbClr val="0F172A"/>
                </a:solidFill>
                <a:latin typeface="Calibri"/>
              </a:rPr>
              <a:t> Blockchain &amp; Cybersecurity / Smart Border Security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PS Category:</a:t>
            </a:r>
            <a:r>
              <a:rPr b="0" sz="1300">
                <a:solidFill>
                  <a:srgbClr val="0F172A"/>
                </a:solidFill>
                <a:latin typeface="Calibri"/>
              </a:rPr>
              <a:t> Software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E06A26"/>
                </a:solidFill>
                <a:latin typeface="Calibri"/>
              </a:rPr>
              <a:t>Idea Title:</a:t>
            </a:r>
            <a:r>
              <a:rPr b="1" sz="1300">
                <a:solidFill>
                  <a:srgbClr val="C2410C"/>
                </a:solidFill>
                <a:latin typeface="Calibri"/>
              </a:rPr>
              <a:t> Checkpoint AI: Automated Identity &amp; Document Screening System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Team ID:</a:t>
            </a:r>
            <a:r>
              <a:rPr b="0" sz="1300">
                <a:solidFill>
                  <a:srgbClr val="0F172A"/>
                </a:solidFill>
                <a:latin typeface="Calibri"/>
              </a:rPr>
              <a:t> [Registered Team ID on SIH Portal]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E06A26"/>
                </a:solidFill>
                <a:latin typeface="Calibri"/>
              </a:rPr>
              <a:t>Team Name:</a:t>
            </a:r>
            <a:r>
              <a:rPr b="1" sz="1300">
                <a:solidFill>
                  <a:srgbClr val="C2410C"/>
                </a:solidFill>
                <a:latin typeface="Calibri"/>
              </a:rPr>
              <a:t> TEAM HELIX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E06A26"/>
                </a:solidFill>
                <a:latin typeface="Calibri"/>
              </a:rPr>
              <a:t>Institute / College:</a:t>
            </a:r>
            <a:r>
              <a:rPr b="1" sz="1300">
                <a:solidFill>
                  <a:srgbClr val="0F172A"/>
                </a:solidFill>
                <a:latin typeface="Calibri"/>
              </a:rPr>
              <a:t> Bhaskaracharya College of Applied Sciences, University of Delhi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b="1" sz="2100">
                <a:solidFill>
                  <a:srgbClr val="0F172A"/>
                </a:solidFill>
                <a:latin typeface="Calibri"/>
              </a:rPr>
              <a:t>CHECKPOINT AI: PROPOSED SOLUTION &amp; ARCHITECTURE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10972800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b="1" sz="1350">
                <a:solidFill>
                  <a:srgbClr val="E06A26"/>
                </a:solidFill>
                <a:latin typeface="Calibri"/>
              </a:rPr>
              <a:t>• Core Challenges in Current Border Surveillance (Canva Research)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Manual Bottlenecks: </a:t>
            </a:r>
            <a:r>
              <a:rPr sz="1100">
                <a:solidFill>
                  <a:srgbClr val="334155"/>
                </a:solidFill>
                <a:latin typeface="Calibri"/>
              </a:rPr>
              <a:t> High passenger volume causes 3–5 min clearance delays per traveler, overwhelming immigration counters.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Undetected Forgeries: </a:t>
            </a:r>
            <a:r>
              <a:rPr sz="1100">
                <a:solidFill>
                  <a:srgbClr val="334155"/>
                </a:solidFill>
                <a:latin typeface="Calibri"/>
              </a:rPr>
              <a:t> Digital alterations, modified dates of birth, and forged visa stamps easily bypass routine human visual inspection.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Identity Impersonation: </a:t>
            </a:r>
            <a:r>
              <a:rPr sz="1100">
                <a:solidFill>
                  <a:srgbClr val="334155"/>
                </a:solidFill>
                <a:latin typeface="Calibri"/>
              </a:rPr>
              <a:t> Validating likeness between fraudulent document portraits and stressed live travelers is error-prone under pressure.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Missing Digital Trail: </a:t>
            </a:r>
            <a:r>
              <a:rPr sz="1100">
                <a:solidFill>
                  <a:srgbClr val="334155"/>
                </a:solidFill>
                <a:latin typeface="Calibri"/>
              </a:rPr>
              <a:t> Fragmented inspection logs prevent rapid background checks and inter-agency intelligence coordination.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TEAM HELIX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5363" name="Table 15362"/>
          <p:cNvGraphicFramePr>
            <a:graphicFrameLocks noGrp="1"/>
          </p:cNvGraphicFramePr>
          <p:nvPr/>
        </p:nvGraphicFramePr>
        <p:xfrm>
          <a:off x="612648" y="329184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9436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 CURRENT SYSTEM (WHY IT FAILS)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CHECKPOINT AI SOLUTION (HOW WE FIX IT)</a:t>
                      </a:r>
                    </a:p>
                  </a:txBody>
                  <a:tcPr>
                    <a:solidFill>
                      <a:srgbClr val="E06A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[REACTIVE CHECKS] Manual screening performed only at physical counters during transit.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[PROACTIVE PRE-ARRIVAL] SmartVisa portal scanning processes credentials before arrival.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[SUBJECTIVE INSPECTION] Officers rely on visual inspection; subtle digital edits evade detection.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[AI-DRIVEN FORENSICS] Error Level Analysis (ELA) exposes pixel-level Photoshop manipulations &amp; splicing.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[MANUAL ENTRY ERRORS] Slow keying of traveler details prone to fatigue and human typos.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[AUTOMATED PIPELINE] End-to-end processing pipeline generates an explainable 0–100 Risk Score in seconds.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5364" name="TextBox 15363"/>
          <p:cNvSpPr txBox="1"/>
          <p:nvPr/>
        </p:nvSpPr>
        <p:spPr>
          <a:xfrm>
            <a:off x="612648" y="57607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E06A26"/>
                </a:solidFill>
                <a:latin typeface="Calibri"/>
              </a:rPr>
              <a:t>Innovation &amp; Uniqueness: </a:t>
            </a:r>
            <a:r>
              <a:rPr sz="1050">
                <a:solidFill>
                  <a:srgbClr val="334155"/>
                </a:solidFill>
                <a:latin typeface="Calibri"/>
              </a:rPr>
              <a:t>Multi-layered fusion of dual-stream OCR (ICAO 7-3-1 check-digits vs VIZ), compression artifact heatmaps (ELA), and 1:1 biometric facial liveness into an intuitive, zero-training risk assessment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0F172A"/>
                </a:solidFill>
                <a:latin typeface="Calibri"/>
              </a:rPr>
              <a:t>TECHNICAL APPROACH &amp; PIPELINE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972800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 sz="1300">
                <a:solidFill>
                  <a:srgbClr val="E06A26"/>
                </a:solidFill>
                <a:latin typeface="Calibri"/>
              </a:rPr>
              <a:t>• AI Forensic Modules &amp; Deep-Dive Capabilities (Canva Slide 5)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EasyOCR &amp; Dual Extraction: </a:t>
            </a:r>
            <a:r>
              <a:rPr sz="1050">
                <a:solidFill>
                  <a:srgbClr val="334155"/>
                </a:solidFill>
                <a:latin typeface="Calibri"/>
              </a:rPr>
              <a:t> Automated text retrieval from Machine Readable Zone (MRZ Lines 1 &amp; 2) and Visual Inspection Zone (VIZ); performs cryptographic 7-3-1 modulus-10 check-digit cross-validation.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Error Level Analysis (ELA): </a:t>
            </a:r>
            <a:r>
              <a:rPr sz="1050">
                <a:solidFill>
                  <a:srgbClr val="334155"/>
                </a:solidFill>
                <a:latin typeface="Calibri"/>
              </a:rPr>
              <a:t> Analyzes JPEG recompression discrepancies across error grids to generate visual heatmaps exposing Photoshop edits, clone stamping, and spliced text fields.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FaceNet &amp; 1:1 Biometric Match: </a:t>
            </a:r>
            <a:r>
              <a:rPr sz="1050">
                <a:solidFill>
                  <a:srgbClr val="334155"/>
                </a:solidFill>
                <a:latin typeface="Calibri"/>
              </a:rPr>
              <a:t> Extracts 512-D deep facial embeddings from document portrait and live passenger selfie; computes cosine similarity (96% benchmark) with passive anti-spoof liveness.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ICAO Doc 9303 Compliance: </a:t>
            </a:r>
            <a:r>
              <a:rPr sz="1050">
                <a:solidFill>
                  <a:srgbClr val="334155"/>
                </a:solidFill>
                <a:latin typeface="Calibri"/>
              </a:rPr>
              <a:t> Strict algorithmic verification against international MRTD standards (TD1, TD2, TD3) with instantaneous document classification and gatekeeping.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TEAM HELIX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3611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E06A26"/>
                </a:solidFill>
                <a:latin typeface="Calibri"/>
              </a:rPr>
              <a:t>• 5-Stage End-to-End System Workflow (Canva Slide 4 Pipeline Architecture)</a:t>
            </a:r>
          </a:p>
        </p:txBody>
      </p:sp>
      <p:pic>
        <p:nvPicPr>
          <p:cNvPr id="17412" name="Picture 17411" descr="arch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977639"/>
            <a:ext cx="109728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0F172A"/>
                </a:solidFill>
                <a:latin typeface="Calibri"/>
              </a:rPr>
              <a:t>FEASIBILITY, VIABILITY &amp; TEAM ROLE DISTRIBUTION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972800" cy="265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250">
                <a:solidFill>
                  <a:srgbClr val="E06A26"/>
                </a:solidFill>
                <a:latin typeface="Calibri"/>
              </a:rPr>
              <a:t>• Feasibility &amp; Viability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1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Technical Feasibility: </a:t>
            </a:r>
            <a:r>
              <a:rPr sz="1050">
                <a:solidFill>
                  <a:srgbClr val="334155"/>
                </a:solidFill>
                <a:latin typeface="Calibri"/>
              </a:rPr>
              <a:t> Built on open, battle-tested stacks (Next.js, Python FastAPI, OpenCV, EasyOCR, FaceNet). Delivers low-latency (&lt;2s) inference on standard commodity checkpoint PCs without expensive GPU clusters.</a:t>
            </a:r>
          </a:p>
          <a:p>
            <a:pPr lvl="1">
              <a:spcAft>
                <a:spcPts val="1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Operational Viability: </a:t>
            </a:r>
            <a:r>
              <a:rPr sz="1050">
                <a:solidFill>
                  <a:srgbClr val="334155"/>
                </a:solidFill>
                <a:latin typeface="Calibri"/>
              </a:rPr>
              <a:t> Seamlessly retrofits into existing immigration booths using standard flatbed scanners and webcams. Zero specialized training needed; intuitive green/amber/red indicators.</a:t>
            </a:r>
          </a:p>
          <a:p>
            <a:pPr lvl="1">
              <a:spcAft>
                <a:spcPts val="1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Economic Viability: </a:t>
            </a:r>
            <a:r>
              <a:rPr sz="1050">
                <a:solidFill>
                  <a:srgbClr val="334155"/>
                </a:solidFill>
                <a:latin typeface="Calibri"/>
              </a:rPr>
              <a:t> 100% software-based solution eliminating millions in capital expenditure for proprietary spectral hardware scanners at high-traffic land borders.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E06A26"/>
                </a:solidFill>
                <a:latin typeface="Calibri"/>
              </a:rPr>
              <a:t>• Challenges &amp; Risk Mitigation Strategies</a:t>
            </a:r>
          </a:p>
          <a:p>
            <a:pPr lvl="1">
              <a:spcAft>
                <a:spcPts val="1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Scan Glare &amp; Faded Paper: </a:t>
            </a:r>
            <a:r>
              <a:rPr sz="1050">
                <a:solidFill>
                  <a:srgbClr val="334155"/>
                </a:solidFill>
                <a:latin typeface="Calibri"/>
              </a:rPr>
              <a:t> Automated CLAHE (Contrast Limited Adaptive Histogram Equalization) and unsharp masking image enhancement prior to OCR processing.</a:t>
            </a:r>
          </a:p>
          <a:p>
            <a:pPr lvl="1">
              <a:spcAft>
                <a:spcPts val="1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Remote Border Connectivity: </a:t>
            </a:r>
            <a:r>
              <a:rPr sz="1050">
                <a:solidFill>
                  <a:srgbClr val="334155"/>
                </a:solidFill>
                <a:latin typeface="Calibri"/>
              </a:rPr>
              <a:t> Hybrid Edge-First architecture: local offline verification on checkpoint PCs with automatic background synchronization to central databases once reconnected.</a:t>
            </a:r>
          </a:p>
          <a:p>
            <a:pPr lvl="1">
              <a:spcAft>
                <a:spcPts val="1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Biometric Spoofing (Print/Screen): </a:t>
            </a:r>
            <a:r>
              <a:rPr sz="1050">
                <a:solidFill>
                  <a:srgbClr val="334155"/>
                </a:solidFill>
                <a:latin typeface="Calibri"/>
              </a:rPr>
              <a:t> Multi-frame temporal liveness analysis (micro-blink and landmark depth heuristics) blocks printed photographs and mobile screen replays.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TEAM HELIX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612648" y="3931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6400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 / TRACK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RESPONSIBILITIES &amp; DELIVERABLES (CANVA SLIDE 6)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06A26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&amp;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Next.js officer dashboard, responsive UI, and end-to-end system flow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06A26"/>
                          </a:solidFill>
                          <a:latin typeface="Calibri"/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AI LOGIC &amp; COMPUTER VISION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Model training, pixel-level tampering detection integration, and ELA heatmap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06A26"/>
                          </a:solidFill>
                          <a:latin typeface="Calibri"/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 &amp;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REST APIs, rule validation engine, and secure verification data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06A26"/>
                          </a:solidFill>
                          <a:latin typeface="Calibri"/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RESEARCH &amp;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Ensuring alignment with border protocols, BPR&amp;D guidelines, and ICAO 9303 standards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E06A26"/>
                          </a:solidFill>
                          <a:latin typeface="Calibri"/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QA &amp;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Prototype stress-testing with spoofed datasets aiming for zero false positives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0F172A"/>
                </a:solidFill>
                <a:latin typeface="Calibri"/>
              </a:rPr>
              <a:t>REAL-WORLD IMPACT AND STRATEGIC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43000"/>
            <a:ext cx="10972800" cy="164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200">
                <a:solidFill>
                  <a:srgbClr val="E06A26"/>
                </a:solidFill>
                <a:latin typeface="Calibri"/>
              </a:rPr>
              <a:t>Tagline: </a:t>
            </a:r>
            <a:r>
              <a:rPr i="1" sz="1200">
                <a:solidFill>
                  <a:srgbClr val="0F172A"/>
                </a:solidFill>
                <a:latin typeface="Calibri"/>
              </a:rPr>
              <a:t>Smarter verification. Stronger security. Scalable for the future.
</a:t>
            </a:r>
          </a:p>
          <a:p>
            <a:r>
              <a:rPr b="1" sz="1250">
                <a:solidFill>
                  <a:srgbClr val="E06A26"/>
                </a:solidFill>
                <a:latin typeface="Calibri"/>
              </a:rPr>
              <a:t>• Strategic National Security &amp; Socio-Economic Benefits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National Sovereignty &amp; Defense: </a:t>
            </a:r>
            <a:r>
              <a:rPr sz="1050">
                <a:solidFill>
                  <a:srgbClr val="334155"/>
                </a:solidFill>
                <a:latin typeface="Calibri"/>
              </a:rPr>
              <a:t> Directly prevents illegal cross-border migration, human trafficking, and fake passport syndicates under the Ministry of Home Affairs (MHA).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Auditable Forensic Dossiers: </a:t>
            </a:r>
            <a:r>
              <a:rPr sz="1050">
                <a:solidFill>
                  <a:srgbClr val="334155"/>
                </a:solidFill>
                <a:latin typeface="Calibri"/>
              </a:rPr>
              <a:t> Automatically generates 1-click legal PDF investigation reports with highlighted tamper heatmaps and cryptographic timestamps for intelligence coordination.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1D4ED8"/>
                </a:solidFill>
                <a:latin typeface="Calibri"/>
              </a:rPr>
              <a:t>– Economic &amp; Resource Efficiency: </a:t>
            </a:r>
            <a:r>
              <a:rPr sz="1050">
                <a:solidFill>
                  <a:srgbClr val="334155"/>
                </a:solidFill>
                <a:latin typeface="Calibri"/>
              </a:rPr>
              <a:t> Drastically reduces manpower expenditure while increasing passenger clearance capacity across India's land, sea, and air borders.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TEAM HELIX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338328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06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/>
          <a:lstStyle/>
          <a:p>
            <a:pPr algn="ctr"/>
            <a:r>
              <a:rPr b="1" sz="2000">
                <a:solidFill>
                  <a:srgbClr val="E06A26"/>
                </a:solidFill>
                <a:latin typeface="Calibri"/>
              </a:rPr>
              <a:t>10 SECONDS</a:t>
            </a:r>
          </a:p>
          <a:p>
            <a:pPr algn="ctr">
              <a:spcAft>
                <a:spcPts val="600"/>
              </a:spcAft>
            </a:pPr>
            <a:r>
              <a:rPr b="1" sz="1000">
                <a:solidFill>
                  <a:srgbClr val="334155"/>
                </a:solidFill>
                <a:latin typeface="Calibri"/>
              </a:rPr>
              <a:t>VERIFICATION TIME</a:t>
            </a:r>
          </a:p>
          <a:p>
            <a:pPr algn="ctr"/>
            <a:r>
              <a:rPr sz="1000">
                <a:solidFill>
                  <a:srgbClr val="0F172A"/>
                </a:solidFill>
                <a:latin typeface="Calibri"/>
              </a:rPr>
              <a:t>Reduced from ~5 minutes to under 10 seconds per traveler, eliminating transit terminal bottlenecks.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61687" y="338328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/>
          <a:lstStyle/>
          <a:p>
            <a:pPr algn="ctr"/>
            <a:r>
              <a:rPr b="1" sz="1600">
                <a:solidFill>
                  <a:srgbClr val="1D4ED8"/>
                </a:solidFill>
                <a:latin typeface="Calibri"/>
              </a:rPr>
              <a:t>ENHANCED SECURITY</a:t>
            </a:r>
          </a:p>
          <a:p>
            <a:pPr algn="ctr">
              <a:spcAft>
                <a:spcPts val="600"/>
              </a:spcAft>
            </a:pPr>
            <a:r>
              <a:rPr b="1" sz="1000">
                <a:solidFill>
                  <a:srgbClr val="334155"/>
                </a:solidFill>
                <a:latin typeface="Calibri"/>
              </a:rPr>
              <a:t>OBJECTIVE DECISIONS</a:t>
            </a:r>
          </a:p>
          <a:p>
            <a:pPr algn="ctr"/>
            <a:r>
              <a:rPr sz="1000">
                <a:solidFill>
                  <a:srgbClr val="0F172A"/>
                </a:solidFill>
                <a:latin typeface="Calibri"/>
              </a:rPr>
              <a:t>Standardized, data-driven AI risk scores replace subjective, fatigue-prone manual checks.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10726" y="3383280"/>
            <a:ext cx="34747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/>
          <a:lstStyle/>
          <a:p>
            <a:pPr algn="ctr"/>
            <a:r>
              <a:rPr b="1" sz="1600">
                <a:solidFill>
                  <a:srgbClr val="1D4ED8"/>
                </a:solidFill>
                <a:latin typeface="Calibri"/>
              </a:rPr>
              <a:t>SCALABLE INTEGRATION</a:t>
            </a:r>
          </a:p>
          <a:p>
            <a:pPr algn="ctr">
              <a:spcAft>
                <a:spcPts val="600"/>
              </a:spcAft>
            </a:pPr>
            <a:r>
              <a:rPr b="1" sz="1000">
                <a:solidFill>
                  <a:srgbClr val="334155"/>
                </a:solidFill>
                <a:latin typeface="Calibri"/>
              </a:rPr>
              <a:t>SMART INFRASTRUCTURE</a:t>
            </a:r>
          </a:p>
          <a:p>
            <a:pPr algn="ctr"/>
            <a:r>
              <a:rPr sz="1000">
                <a:solidFill>
                  <a:srgbClr val="0F172A"/>
                </a:solidFill>
                <a:latin typeface="Calibri"/>
              </a:rPr>
              <a:t>Compatible with CCTV infrastructure, immigration databases, and automated e-Gates via QR codes.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" y="5715000"/>
            <a:ext cx="1097280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E06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Checkpoint AI delivers measurable impact at borders — </a:t>
            </a:r>
            <a:r>
              <a:rPr b="1" sz="1100">
                <a:solidFill>
                  <a:srgbClr val="FB923C"/>
                </a:solidFill>
                <a:latin typeface="Calibri"/>
              </a:rPr>
              <a:t>we are ready to innovate and implement with confidence.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b="1" sz="2100">
                <a:solidFill>
                  <a:srgbClr val="0F172A"/>
                </a:solidFill>
                <a:latin typeface="Calibri"/>
              </a:rPr>
              <a:t>RESEARCH, STANDARDS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1097280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350">
                <a:solidFill>
                  <a:srgbClr val="E06A26"/>
                </a:solidFill>
                <a:latin typeface="Calibri"/>
              </a:rPr>
              <a:t>• International Standards &amp; Specifications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ICAO Doc 9303 (Parts 3, 4, 7): </a:t>
            </a:r>
            <a:r>
              <a:rPr sz="1100">
                <a:solidFill>
                  <a:srgbClr val="334155"/>
                </a:solidFill>
                <a:latin typeface="Calibri"/>
              </a:rPr>
              <a:t> International Civil Aviation Organization specifications for Machine Readable Travel Documents (MRTDs); standardized TD1/TD2/TD3 zones and 7-3-1 weight modulus-10 check-digit algorithms.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ISO/IEC 19794-5 Biometric Data Interchange: </a:t>
            </a:r>
            <a:r>
              <a:rPr sz="1100">
                <a:solidFill>
                  <a:srgbClr val="334155"/>
                </a:solidFill>
                <a:latin typeface="Calibri"/>
              </a:rPr>
              <a:t> Information Technology — Biometric data interchange formats — Part 5: Face image data quality, inter-pupillary distance, landmark standards, and frontal pose compliance.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50">
                <a:solidFill>
                  <a:srgbClr val="E06A26"/>
                </a:solidFill>
                <a:latin typeface="Calibri"/>
              </a:rPr>
              <a:t>• Digital Forensics &amp; Computer Vision Research Work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Error Level Analysis (ELA): </a:t>
            </a:r>
            <a:r>
              <a:rPr sz="1100">
                <a:solidFill>
                  <a:srgbClr val="334155"/>
                </a:solidFill>
                <a:latin typeface="Calibri"/>
              </a:rPr>
              <a:t> Krawetz, Neal (2007). 'A Picture's Worth... Digital Image Analysis and Error Level Analysis (ELA)', Hacker Factor Solutions — Foundations of JPEG recompression forensics.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Deep Facial Embeddings (ArcFace &amp; FaceNet): </a:t>
            </a:r>
            <a:r>
              <a:rPr sz="1100">
                <a:solidFill>
                  <a:srgbClr val="334155"/>
                </a:solidFill>
                <a:latin typeface="Calibri"/>
              </a:rPr>
              <a:t> Schroff, Kalenichenko, Philbin (2015). 'FaceNet: A Unified Embedding for Face Recognition' &amp; Deng et al. (CVPR 2019) ArcFace additive angular margin loss for extreme verification accuracy.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Document Tampering Localization: </a:t>
            </a:r>
            <a:r>
              <a:rPr sz="1100">
                <a:solidFill>
                  <a:srgbClr val="334155"/>
                </a:solidFill>
                <a:latin typeface="Calibri"/>
              </a:rPr>
              <a:t> Bappy, Roy-Chowdhury, et al. (IEEE TIFS 2019). 'Exploiting Spatial Structure for Localizing Manipulated Image Regions' — Multi-scale patch analysis for digital splicing.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50">
                <a:solidFill>
                  <a:srgbClr val="E06A26"/>
                </a:solidFill>
                <a:latin typeface="Calibri"/>
              </a:rPr>
              <a:t>• National Guidelines &amp; Policy Frameworks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Ministry of Home Affairs (MHA): </a:t>
            </a:r>
            <a:r>
              <a:rPr sz="1100">
                <a:solidFill>
                  <a:srgbClr val="334155"/>
                </a:solidFill>
                <a:latin typeface="Calibri"/>
              </a:rPr>
              <a:t> Integrated Border Management System (IBMS) Guidelines for Smart Border Checkpoints.</a:t>
            </a:r>
          </a:p>
          <a:p>
            <a:pPr lvl="1">
              <a:spcAft>
                <a:spcPts val="200"/>
              </a:spcAft>
            </a:pPr>
            <a:r>
              <a:rPr b="1" sz="1100">
                <a:solidFill>
                  <a:srgbClr val="1D4ED8"/>
                </a:solidFill>
                <a:latin typeface="Calibri"/>
              </a:rPr>
              <a:t>– Bureau of Police Research &amp; Development (BPR&amp;D): </a:t>
            </a:r>
            <a:r>
              <a:rPr sz="1100">
                <a:solidFill>
                  <a:srgbClr val="334155"/>
                </a:solidFill>
                <a:latin typeface="Calibri"/>
              </a:rPr>
              <a:t> Forensic Questioned Document Examination Manual and Passport Authentication Directives.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  <a:latin typeface="Calibri"/>
              </a:rPr>
              <a:t>TEAM HELIX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